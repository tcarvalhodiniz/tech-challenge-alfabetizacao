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/>
    <p:restoredTop sz="94610"/>
  </p:normalViewPr>
  <p:slideViewPr>
    <p:cSldViewPr snapToGrid="0" snapToObjects="1">
      <p:cViewPr varScale="1">
        <p:scale>
          <a:sx n="227" d="100"/>
          <a:sy n="227" d="100"/>
        </p:scale>
        <p:origin x="4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18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reporting/98ab3664-b93d-46d5-a597-1cc1dbb26f2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377440" cy="2377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2 — FIAP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Híbrido para o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Criança Alfabetizada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Streaming · Arquitetura Medalhão · GCP + Databricks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Corrêa Carvalho Diniz</a:t>
            </a:r>
            <a:r>
              <a:rPr lang="en-US" sz="15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RM 371212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alfabetização na infância é um pilar do desenvolvimento do país. O Compromisso Nacional Criança Alfabetizada quer que toda criança esteja alfabetizada até o fim do 2º ano do fundamental.</a:t>
            </a: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2023, a Pesquisa Alfabetiza Brasil (INEP) definiu o ponto de corte na escala Saeb a partir do qual a criança é considerada alfabetizada. Daí nasce o indicador.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901952"/>
            <a:ext cx="420624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43800" y="2814523"/>
            <a:ext cx="3931920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no Saeb — o corte da alfabetização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2F6F4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3913632"/>
            <a:ext cx="4206240" cy="955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até 2030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43800" y="4826203"/>
            <a:ext cx="3931920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 de crianças alfabetizadas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CONSTRUÍDO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fontes de dados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as fontes do indicador em uma pipeline híbrida (batch + streaming) na nuvem, </a:t>
            </a:r>
            <a:r>
              <a:rPr lang="en-US" sz="1550" dirty="0" err="1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seguindo</a:t>
            </a:r>
            <a:r>
              <a:rPr lang="en-US" sz="15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arquitetura Medalhão, com qualidade de dados e eficiência de custo.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dataset público basedosdados.br_inep_avaliacao_alfabetizacao (INEP, 2023–2024).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700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7920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município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15400" y="15544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10" name="Text 8"/>
          <p:cNvSpPr/>
          <p:nvPr/>
        </p:nvSpPr>
        <p:spPr>
          <a:xfrm>
            <a:off x="9098280" y="1700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98280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estado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0723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Brasil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7920" y="34930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15400" y="29260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0723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UF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98280" y="34930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estadual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2976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4439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Município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17920" y="4864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municipal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429768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2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44439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98280" y="4864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(proficiência)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 + ingestão híbrida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F33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13639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59359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público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60904" y="3447288"/>
            <a:ext cx="256032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288036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6B5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13639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59359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 + metadados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0056" y="3447288"/>
            <a:ext cx="256032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285232" y="288036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6B5A"/>
          </a:solidFill>
          <a:ln/>
        </p:spPr>
      </p:sp>
      <p:sp>
        <p:nvSpPr>
          <p:cNvPr id="13" name="Text 11"/>
          <p:cNvSpPr/>
          <p:nvPr/>
        </p:nvSpPr>
        <p:spPr>
          <a:xfrm>
            <a:off x="5285232" y="313639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76672" y="359359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+ integração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79208" y="3447288"/>
            <a:ext cx="256032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644384" y="288036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6B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44384" y="313639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35824" y="359359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× realizado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38360" y="3447288"/>
            <a:ext cx="256032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03536" y="288036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F33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3536" y="313639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94976" y="359359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+ Looker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dados históricos (metas, municípios)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medições em tempo quase-real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Dev/execução: Databricks Free (PySpark · Delta · Structured Streaming)   ·   Nuvem: GCP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Batch → Bronze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das 6 fontes direto do BigQuery com a service account, gravando na Bronze em Delta, particionado por data de ingestão — apenas com metadados, sem regra de negócio.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9319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r>
              <a:rPr lang="en-US" sz="130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</a:t>
            </a:r>
            <a:r>
              <a:rPr lang="en-US" sz="1300" i="1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pelo cliente do BigQuery.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7373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9019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23.995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0" y="27578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17373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9019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10.704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01000" y="27578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munic.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38360" y="17373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9738360" y="19019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875520" y="27578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(amostra)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5661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7307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45866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 × ano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35661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37307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001000" y="45866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UF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38360" y="356616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2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373075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875520" y="4586630"/>
            <a:ext cx="146304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Streaming → Bronze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produtor em Python gera eventos do indicador em lotes, simulando chegada em tempo real. O Structured Streaming consome incrementalmente, com checkpoint, e grava na Bronze — completando a pipeline híbrida.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4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21122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JSON (NDJSON)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77063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4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32826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de eventos no Volume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4106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B6B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0782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4453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micro-batches + checkpoint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511149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4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2486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(streaming)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5623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Delta, append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limpeza e integração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corretos e valores tratados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8716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de chaves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 município com 7 dígitos, UF em maiúsculas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2841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Decodificação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rede/série → texto legível (dicionário)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6966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Despivot das metas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por ano → linhas (meta × realizado)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01091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+ meta + UF em uma visão única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0F33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Descoberta-chave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237744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rede vinha como CÓDIGO nas tabelas de resultado ("3") e como TEXTO nas de meta ("Municipal").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Confirmei consultando o BigQuery e ajustei o join para casar pelo texto decodificado — o realizado passou a bater com a meta.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+ Quarentena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em chave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obrigatória ausente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 repetida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válida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em [0,100], ano em [2019,2030]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Quarentena  </a:t>
            </a:r>
            <a:r>
              <a:rPr lang="en-US" sz="13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reprovados guardados com o motivo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80960" y="17830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2F6F4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947672"/>
            <a:ext cx="393192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818120" y="2888590"/>
            <a:ext cx="3657600" cy="606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em quarentena nos dados reais (curados)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37947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0F332E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comprovado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4389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teste com dados inválidos de propósito: 1 aprovado e 5 na quarentena, cada um com o motivo certo.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meta × realizado e insights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analíticos publicados no BigQuery: indicador por município, evolução rumo a 2030, indicador por UF e a última medição do streaming.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2F6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2491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4088" y="375086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atingiram a meta de 2024 (vs. 2.444 que não)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2560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2F6F4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272491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53128" y="375086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 já supera a meta de 80% — referência nacional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2560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2F6F4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272491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23.995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02168" y="375086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— custo medido, não estimado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via dry-run do BigQuery (calcula os bytes sem executar nem cobrar):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5915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MB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4088" y="338510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processados por ingestão completa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21945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235915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US$ 0,0017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53128" y="338510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execução — 0,027% do 1 TB/mês grátis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21945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12" name="Text 10"/>
          <p:cNvSpPr/>
          <p:nvPr/>
        </p:nvSpPr>
        <p:spPr>
          <a:xfrm>
            <a:off x="8065008" y="2359152"/>
            <a:ext cx="35661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02168" y="3385109"/>
            <a:ext cx="32918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scan lendo só as colunas necessárias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754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Delta/Parquet colunar · particionamento por ano · column pruning.   Lição: LIMIT não reduz o scan cobrado no BigQuery.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IA sobre a Gold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8562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risco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258568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quais municípios não baterão a meta de 2030 (taxa, gap, tendência, UF, rede).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/>
        </p:spPr>
      </p:sp>
      <p:sp>
        <p:nvSpPr>
          <p:cNvPr id="8" name="Text 6"/>
          <p:cNvSpPr/>
          <p:nvPr/>
        </p:nvSpPr>
        <p:spPr>
          <a:xfrm>
            <a:off x="6419088" y="18562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2030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2258568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/ série temporal para estimar a taxa futura por município.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3913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 trajetórias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4315968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municípios ("no caminho", "estagnados") para estratégias por grupo.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0488" y="37490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2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3913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near-real-time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4315968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medição do streaming dispara alertas sem esperar o ciclo anual.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1250" y="5303520"/>
            <a:ext cx="3291840" cy="3291840"/>
          </a:xfrm>
          <a:prstGeom prst="ellipse">
            <a:avLst/>
          </a:prstGeom>
          <a:solidFill>
            <a:srgbClr val="1B6B5A"/>
          </a:solidFill>
          <a:ln/>
        </p:spPr>
      </p:sp>
      <p:sp>
        <p:nvSpPr>
          <p:cNvPr id="3" name="Shape 1"/>
          <p:cNvSpPr/>
          <p:nvPr/>
        </p:nvSpPr>
        <p:spPr>
          <a:xfrm>
            <a:off x="10815808" y="-1568731"/>
            <a:ext cx="2926080" cy="2926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híbrida completa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49808" y="26517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streaming · Bronze → Silver → Gold
Qualidade + quarentena · FinOps com custo real
Gold publicada no BigQuery, pronta para BI e IA
Link Looker Studio </a:t>
            </a:r>
            <a:r>
              <a:rPr lang="en-US" sz="1700" dirty="0" err="1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simulando</a:t>
            </a:r>
            <a:r>
              <a:rPr lang="en-US" sz="17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r>
              <a:rPr lang="en-US" sz="17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GCP: </a:t>
            </a:r>
            <a:r>
              <a:rPr lang="en-US" sz="17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https://datastudio.google.com/reporting/98ab3664-b93d-46d5-a597-1cc1dbb26f27</a:t>
            </a:r>
            <a:r>
              <a:rPr lang="en-US" sz="17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 </a:t>
            </a:r>
            <a:r>
              <a:rPr lang="en-US" sz="15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Corrêa Carvalho Diniz · RM 371212 · FIAP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2B8689-0316-6E4F-B758-D5FDA2FB229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90cb1f6-e0e6-4ddc-9bda-1c65ff9dbda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12311</TotalTime>
  <Words>872</Words>
  <Application>Microsoft Macintosh PowerPoint</Application>
  <PresentationFormat>Personalizar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Thiago Diniz</cp:lastModifiedBy>
  <cp:revision>4</cp:revision>
  <dcterms:created xsi:type="dcterms:W3CDTF">2026-07-04T22:09:13Z</dcterms:created>
  <dcterms:modified xsi:type="dcterms:W3CDTF">2026-07-13T11:28:45Z</dcterms:modified>
</cp:coreProperties>
</file>